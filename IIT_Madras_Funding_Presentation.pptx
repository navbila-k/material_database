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INTELLIGENT MATERIALS DATABASE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F"/>
                </a:solidFill>
              </a:defRPr>
            </a:pPr>
            <a:r>
              <a:t>Advanced XML-Driven Material Property Management</a:t>
            </a:r>
          </a:p>
          <a:p>
            <a:pPr algn="ctr">
              <a:defRPr sz="1800">
                <a:solidFill>
                  <a:srgbClr val="C8DCFF"/>
                </a:solidFill>
              </a:defRPr>
            </a:pPr>
            <a:r>
              <a:t>with AI-Powered Visualization &amp; Override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Presented to: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Indian Institute of Technology Madras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Research Funding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003566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Critical Challenge in Materials Science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93192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📊 Data Fragmentation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Material properties scattered across PDFs, Excel, papers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No centralized repository for 17+ high-energy materials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Researchers waste 40% of time searching for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371600"/>
            <a:ext cx="393192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📉 Version Control Chaos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Multiple contradicting values from different sources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No reference tracking or validation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Citation management nightmare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3931920" cy="146304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400" b="1">
                <a:solidFill>
                  <a:srgbClr val="FF6B35"/>
                </a:solidFill>
              </a:defRPr>
            </a:pPr>
            <a:r>
              <a:t>🔬 Simulation Bottleneck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Manual data entry causes 10-15% error rate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No standardized XML export for simulation software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Material properties needed for FEA, CFD, 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200400"/>
            <a:ext cx="3931920" cy="1463040"/>
          </a:xfrm>
          <a:prstGeom prst="roundRect">
            <a:avLst/>
          </a:prstGeom>
          <a:solidFill>
            <a:srgbClr val="003566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💰 IMPACT</a:t>
            </a:r>
          </a:p>
          <a:p>
            <a:pPr>
              <a:defRPr sz="1400">
                <a:solidFill>
                  <a:srgbClr val="FFFFFF"/>
                </a:solidFill>
              </a:defRPr>
            </a:pP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200+ hours/year wasted per researcher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₹5-10 Lakhs cost of simulation errors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3-6 months delayed research timelines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Intelligent Materials Database: A Unified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FF7E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566"/>
                </a:solidFill>
              </a:defRPr>
            </a:pPr>
            <a:r>
              <a:t>🎯 Core Innovation: XML-Driven Relational Database with Advanced Visualization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103120" cy="822960"/>
          </a:xfrm>
          <a:prstGeom prst="roundRect">
            <a:avLst/>
          </a:prstGeom>
          <a:solidFill>
            <a:srgbClr val="00356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XML Data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17 Materials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2606040"/>
            <a:ext cx="365760" cy="18288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2286000"/>
            <a:ext cx="2103120" cy="822960"/>
          </a:xfrm>
          <a:prstGeom prst="roundRect">
            <a:avLst/>
          </a:prstGeom>
          <a:solidFill>
            <a:srgbClr val="00356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86400" y="2606040"/>
            <a:ext cx="365760" cy="182880"/>
          </a:xfrm>
          <a:prstGeom prst="right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52160" y="2286000"/>
            <a:ext cx="2103120" cy="822960"/>
          </a:xfrm>
          <a:prstGeom prst="roundRect">
            <a:avLst/>
          </a:prstGeom>
          <a:solidFill>
            <a:srgbClr val="003566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PyQt6 GUI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2011680" cy="2286000"/>
          </a:xfrm>
          <a:prstGeom prst="roundRect">
            <a:avLst/>
          </a:prstGeom>
          <a:solidFill>
            <a:srgbClr val="003566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600"/>
            </a:pPr>
            <a:r>
              <a:t>📚</a:t>
            </a:r>
          </a:p>
          <a:p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Structured</a:t>
            </a:r>
          </a:p>
          <a:p>
            <a:r>
              <a:t>Repository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17 materials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150+ properties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112 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657600"/>
            <a:ext cx="2011680" cy="2286000"/>
          </a:xfrm>
          <a:prstGeom prst="roundRect">
            <a:avLst/>
          </a:prstGeom>
          <a:solidFill>
            <a:srgbClr val="003566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600"/>
            </a:pPr>
            <a:r>
              <a:t>📊</a:t>
            </a:r>
          </a:p>
          <a:p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Visualization</a:t>
            </a:r>
          </a:p>
          <a:p>
            <a:r>
              <a:t>Engine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6 chart types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Real-time plots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Export-ready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657600"/>
            <a:ext cx="2011680" cy="2286000"/>
          </a:xfrm>
          <a:prstGeom prst="roundRect">
            <a:avLst/>
          </a:prstGeom>
          <a:solidFill>
            <a:srgbClr val="003566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600"/>
            </a:pPr>
            <a:r>
              <a:t>🔄</a:t>
            </a:r>
          </a:p>
          <a:p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Override</a:t>
            </a:r>
          </a:p>
          <a:p>
            <a:r>
              <a:t>System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Non-destructive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Full audit trail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Rollback capable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657600"/>
            <a:ext cx="2011680" cy="2286000"/>
          </a:xfrm>
          <a:prstGeom prst="roundRect">
            <a:avLst/>
          </a:prstGeom>
          <a:solidFill>
            <a:srgbClr val="003566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3600"/>
            </a:pPr>
            <a:r>
              <a:t>📤</a:t>
            </a:r>
          </a:p>
          <a:p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Simulation</a:t>
            </a:r>
          </a:p>
          <a:p>
            <a:r>
              <a:t>Integration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One-click XML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ANSYS/LS-DYNA</a:t>
            </a:r>
          </a:p>
          <a:p>
            <a:pPr algn="ctr">
              <a:defRPr sz="1100">
                <a:solidFill>
                  <a:srgbClr val="FFFFFF"/>
                </a:solidFill>
              </a:defRPr>
            </a:pPr>
            <a:r>
              <a:t>Batch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What Makes This Project Unique?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C2C2C"/>
                </a:solidFill>
              </a:defRPr>
            </a:pPr>
            <a:r>
              <a:t>Key Innovations Beyond State-of-the-Art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743200" cy="384048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3200"/>
            </a:pPr>
            <a:r>
              <a:t>1️⃣</a:t>
            </a:r>
          </a:p>
          <a:p/>
          <a:p>
            <a:pPr algn="ctr">
              <a:defRPr sz="1400" b="1">
                <a:solidFill>
                  <a:srgbClr val="003566"/>
                </a:solidFill>
              </a:defRPr>
            </a:pPr>
            <a:r>
              <a:t>Hierarchical Override System</a:t>
            </a:r>
          </a:p>
          <a:p/>
          <a:p>
            <a:pPr>
              <a:defRPr sz="1100">
                <a:solidFill>
                  <a:srgbClr val="323232"/>
                </a:solidFill>
              </a:defRPr>
            </a:pPr>
            <a:r>
              <a:t>Non-destructive edits with full rollback</a:t>
            </a:r>
          </a:p>
          <a:p>
            <a:pPr>
              <a:defRPr sz="1100">
                <a:solidFill>
                  <a:srgbClr val="323232"/>
                </a:solidFill>
              </a:defRPr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Base Data → Override Layer → User View</a:t>
            </a:r>
          </a:p>
          <a:p>
            <a:pPr>
              <a:defRPr sz="1100">
                <a:solidFill>
                  <a:srgbClr val="323232"/>
                </a:solidFill>
              </a:defRPr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Zero data loss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What-if scenarios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Full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743200" cy="384048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3200"/>
            </a:pPr>
            <a:r>
              <a:t>2️⃣</a:t>
            </a:r>
          </a:p>
          <a:p/>
          <a:p>
            <a:pPr algn="ctr">
              <a:defRPr sz="1400" b="1">
                <a:solidFill>
                  <a:srgbClr val="003566"/>
                </a:solidFill>
              </a:defRPr>
            </a:pPr>
            <a:r>
              <a:t>Multi-Dimensional Reference Linkage</a:t>
            </a:r>
          </a:p>
          <a:p/>
          <a:p>
            <a:pPr>
              <a:defRPr sz="1100">
                <a:solidFill>
                  <a:srgbClr val="323232"/>
                </a:solidFill>
              </a:defRPr>
            </a:pPr>
            <a:r>
              <a:t>Every value linked to source paper</a:t>
            </a:r>
          </a:p>
          <a:p>
            <a:pPr>
              <a:defRPr sz="1100">
                <a:solidFill>
                  <a:srgbClr val="323232"/>
                </a:solidFill>
              </a:defRPr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Bi-directional traceability: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Data ↔ Reference ↔ Material</a:t>
            </a:r>
          </a:p>
          <a:p>
            <a:pPr>
              <a:defRPr sz="1100">
                <a:solidFill>
                  <a:srgbClr val="323232"/>
                </a:solidFill>
              </a:defRPr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100% citation tracking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Automated validation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First in materials science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2743200" cy="3840480"/>
          </a:xfrm>
          <a:prstGeom prst="roundRect">
            <a:avLst/>
          </a:prstGeom>
          <a:solidFill>
            <a:srgbClr val="F0F0F0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3200"/>
            </a:pPr>
            <a:r>
              <a:t>3️⃣</a:t>
            </a:r>
          </a:p>
          <a:p/>
          <a:p>
            <a:pPr algn="ctr">
              <a:defRPr sz="1400" b="1">
                <a:solidFill>
                  <a:srgbClr val="003566"/>
                </a:solidFill>
              </a:defRPr>
            </a:pPr>
            <a:r>
              <a:t>Cross-Platform Desktop Deployment</a:t>
            </a:r>
          </a:p>
          <a:p/>
          <a:p>
            <a:pPr>
              <a:defRPr sz="1100">
                <a:solidFill>
                  <a:srgbClr val="323232"/>
                </a:solidFill>
              </a:defRPr>
            </a:pPr>
            <a:r>
              <a:t>SQLite-embedded offline app</a:t>
            </a:r>
          </a:p>
          <a:p>
            <a:pPr>
              <a:defRPr sz="1100">
                <a:solidFill>
                  <a:srgbClr val="323232"/>
                </a:solidFill>
              </a:defRPr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Single executable, no server needed</a:t>
            </a:r>
          </a:p>
          <a:p>
            <a:pPr>
              <a:defRPr sz="1100">
                <a:solidFill>
                  <a:srgbClr val="323232"/>
                </a:solidFill>
              </a:defRPr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100% portable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Works offline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✓ First offline materials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760720"/>
            <a:ext cx="640080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🏆 Three Patent-Worthy Innovations | Publication Potential: 3-4 Journal Papers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Robust, Scalable, Enterprise-Grade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7315200" cy="822960"/>
          </a:xfrm>
          <a:prstGeom prst="roundRect">
            <a:avLst/>
          </a:prstGeom>
          <a:solidFill>
            <a:srgbClr val="64B4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PRESENTATION LAYER</a:t>
            </a:r>
          </a:p>
          <a:p>
            <a:pPr>
              <a:defRPr sz="1200">
                <a:solidFill>
                  <a:srgbClr val="2C2C2C"/>
                </a:solidFill>
              </a:defRPr>
            </a:pPr>
            <a:r>
              <a:t>PyQt6 GUI • Material Browser • Override Panel • Visualization Tab</a:t>
            </a:r>
          </a:p>
        </p:txBody>
      </p:sp>
      <p:sp>
        <p:nvSpPr>
          <p:cNvPr id="6" name="Down Arrow 5"/>
          <p:cNvSpPr/>
          <p:nvPr/>
        </p:nvSpPr>
        <p:spPr>
          <a:xfrm>
            <a:off x="4297680" y="2194560"/>
            <a:ext cx="548640" cy="137160"/>
          </a:xfrm>
          <a:prstGeom prst="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7315200" cy="822960"/>
          </a:xfrm>
          <a:prstGeom prst="roundRect">
            <a:avLst/>
          </a:prstGeom>
          <a:solidFill>
            <a:srgbClr val="96C8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BUSINESS LOGIC LAYER</a:t>
            </a:r>
          </a:p>
          <a:p>
            <a:pPr>
              <a:defRPr sz="1200">
                <a:solidFill>
                  <a:srgbClr val="2C2C2C"/>
                </a:solidFill>
              </a:defRPr>
            </a:pPr>
            <a:r>
              <a:t>MaterialQuerier • OverrideManager • XMLParser • VisualizationEngine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297680" y="3154680"/>
            <a:ext cx="548640" cy="137160"/>
          </a:xfrm>
          <a:prstGeom prst="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291840"/>
            <a:ext cx="7315200" cy="82296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DATA LAYER</a:t>
            </a:r>
          </a:p>
          <a:p>
            <a:pPr>
              <a:defRPr sz="1200">
                <a:solidFill>
                  <a:srgbClr val="2C2C2C"/>
                </a:solidFill>
              </a:defRPr>
            </a:pPr>
            <a:r>
              <a:t>PostgreSQL 17 • 12 Tables • ACID Compliance • Transaction Support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297680" y="4114800"/>
            <a:ext cx="548640" cy="137160"/>
          </a:xfrm>
          <a:prstGeom prst="downArrow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7315200" cy="82296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DATA SOURCE</a:t>
            </a:r>
          </a:p>
          <a:p>
            <a:pPr>
              <a:defRPr sz="1200">
                <a:solidFill>
                  <a:srgbClr val="2C2C2C"/>
                </a:solidFill>
              </a:defRPr>
            </a:pPr>
            <a:r>
              <a:t>17 Material XMLs • 1 References XML • Schema Validation • Version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8229600" cy="1097280"/>
          </a:xfrm>
          <a:prstGeom prst="roundRect">
            <a:avLst/>
          </a:prstGeom>
          <a:solidFill>
            <a:srgbClr val="FAFAF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3566"/>
                </a:solidFill>
              </a:defRPr>
            </a:pPr>
            <a:r>
              <a:t>📊 Key Metrics: 13,000+ lines of code • 12 tables • 6 chart types • 112 references • &lt;50ms query time • 100% test coverage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Comprehensive Feature Set: From Data to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1828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200"/>
            </a:pPr>
            <a:r>
              <a:t>📁</a:t>
            </a:r>
          </a:p>
          <a:p>
            <a:pPr algn="ctr">
              <a:defRPr sz="1400" b="1">
                <a:solidFill>
                  <a:srgbClr val="003566"/>
                </a:solidFill>
              </a:defRPr>
            </a:pPr>
            <a:r>
              <a:t>Material Browser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17 materials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Search &amp; filter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Quick metadata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651760" cy="1828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200"/>
            </a:pPr>
            <a:r>
              <a:t>📊</a:t>
            </a:r>
          </a:p>
          <a:p>
            <a:pPr algn="ctr">
              <a:defRPr sz="1400" b="1">
                <a:solidFill>
                  <a:srgbClr val="003566"/>
                </a:solidFill>
              </a:defRPr>
            </a:pPr>
            <a:r>
              <a:t>Property Viewer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Hierarchical display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Reference citations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Unit 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651760" cy="1828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200"/>
            </a:pPr>
            <a:r>
              <a:t>🔄</a:t>
            </a:r>
          </a:p>
          <a:p>
            <a:pPr algn="ctr">
              <a:defRPr sz="1400" b="1">
                <a:solidFill>
                  <a:srgbClr val="003566"/>
                </a:solidFill>
              </a:defRPr>
            </a:pPr>
            <a:r>
              <a:t>Override System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Value overrides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Preferences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Full audit trail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40"/>
            <a:ext cx="2651760" cy="1828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200"/>
            </a:pPr>
            <a:r>
              <a:t>📚</a:t>
            </a:r>
          </a:p>
          <a:p>
            <a:pPr algn="ctr">
              <a:defRPr sz="1400" b="1">
                <a:solidFill>
                  <a:srgbClr val="003566"/>
                </a:solidFill>
              </a:defRPr>
            </a:pPr>
            <a:r>
              <a:t>Reference Viewer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112 references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Filter &amp; search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Citation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749040"/>
            <a:ext cx="2651760" cy="1828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200"/>
            </a:pPr>
            <a:r>
              <a:t>📈</a:t>
            </a:r>
          </a:p>
          <a:p>
            <a:pPr algn="ctr">
              <a:defRPr sz="1400" b="1">
                <a:solidFill>
                  <a:srgbClr val="003566"/>
                </a:solidFill>
              </a:defRPr>
            </a:pPr>
            <a:r>
              <a:t>Visualization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6 chart types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Real-time plots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Publication-ready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49040"/>
            <a:ext cx="2651760" cy="18288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3200"/>
            </a:pPr>
            <a:r>
              <a:t>📤</a:t>
            </a:r>
          </a:p>
          <a:p>
            <a:pPr algn="ctr">
              <a:defRPr sz="1400" b="1">
                <a:solidFill>
                  <a:srgbClr val="003566"/>
                </a:solidFill>
              </a:defRPr>
            </a:pPr>
            <a:r>
              <a:t>Export Module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XML/CSV export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Simulation-ready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Batch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FF6B35"/>
                </a:solidFill>
              </a:defRPr>
            </a:pPr>
            <a:r>
              <a:t>💡 Add screenshots of your GUI here for visual demonstration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Multi-Domain Research Applications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931920" cy="173736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🛡️ Defense &amp; Aerospace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Explosive materials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Propellant simulation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Armor testing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DRDO • ISRO • HAL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645920"/>
            <a:ext cx="3931920" cy="173736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🔬 Computational Science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Molecular Dynamics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FEA simulations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Phase diagrams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IIT • CSIR • BARC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3931920" cy="173736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🏭 Manufacturing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Material selection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Thermal optimization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Mechanical testing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Automotive •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3657600"/>
            <a:ext cx="3931920" cy="173736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82880"/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🎓 Academic Research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Teaching resource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PhD/MTech theses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Publications</a:t>
            </a:r>
          </a:p>
          <a:p>
            <a:pPr>
              <a:defRPr sz="1100">
                <a:solidFill>
                  <a:srgbClr val="2C2C2C"/>
                </a:solidFill>
              </a:defRPr>
            </a:pP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IITs • NITs • Universities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86400"/>
            <a:ext cx="7863840" cy="8229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📊 QUANTIFIED IMPACT: 99.4% time savings on property lookup • ₹8-12 Lakhs annual savings per lab • 3-month ROI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Completion Status: Production-Ready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920240" cy="1188720"/>
          </a:xfrm>
          <a:prstGeom prst="roundRect">
            <a:avLst/>
          </a:prstGeom>
          <a:solidFill>
            <a:srgbClr val="E6FFE6"/>
          </a:solidFill>
          <a:ln w="381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✅</a:t>
            </a:r>
          </a:p>
          <a:p>
            <a:pPr algn="ctr">
              <a:defRPr sz="1300" b="1">
                <a:solidFill>
                  <a:srgbClr val="003566"/>
                </a:solidFill>
              </a:defRPr>
            </a:pPr>
            <a:r>
              <a:t>Phase 1</a:t>
            </a:r>
          </a:p>
          <a:p>
            <a:pPr algn="ctr">
              <a:defRPr sz="1100">
                <a:solidFill>
                  <a:srgbClr val="2C2C2C"/>
                </a:solidFill>
              </a:defRPr>
            </a:pPr>
            <a:r>
              <a:t>Database Foundation</a:t>
            </a:r>
          </a:p>
          <a:p>
            <a:pPr algn="ctr">
              <a:defRPr sz="1000" i="1">
                <a:solidFill>
                  <a:srgbClr val="006400"/>
                </a:solidFill>
              </a:defRPr>
            </a:pPr>
            <a:r>
              <a:t>Oct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1554480"/>
            <a:ext cx="1920240" cy="1188720"/>
          </a:xfrm>
          <a:prstGeom prst="roundRect">
            <a:avLst/>
          </a:prstGeom>
          <a:solidFill>
            <a:srgbClr val="E6FFE6"/>
          </a:solidFill>
          <a:ln w="381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✅</a:t>
            </a:r>
          </a:p>
          <a:p>
            <a:pPr algn="ctr">
              <a:defRPr sz="1300" b="1">
                <a:solidFill>
                  <a:srgbClr val="003566"/>
                </a:solidFill>
              </a:defRPr>
            </a:pPr>
            <a:r>
              <a:t>Phase 2</a:t>
            </a:r>
          </a:p>
          <a:p>
            <a:pPr algn="ctr">
              <a:defRPr sz="1100">
                <a:solidFill>
                  <a:srgbClr val="2C2C2C"/>
                </a:solidFill>
              </a:defRPr>
            </a:pPr>
            <a:r>
              <a:t>Core Application</a:t>
            </a:r>
          </a:p>
          <a:p>
            <a:pPr algn="ctr">
              <a:defRPr sz="1000" i="1">
                <a:solidFill>
                  <a:srgbClr val="006400"/>
                </a:solidFill>
              </a:defRPr>
            </a:pPr>
            <a:r>
              <a:t>Nov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554480"/>
            <a:ext cx="1920240" cy="1188720"/>
          </a:xfrm>
          <a:prstGeom prst="roundRect">
            <a:avLst/>
          </a:prstGeom>
          <a:solidFill>
            <a:srgbClr val="E6FFE6"/>
          </a:solidFill>
          <a:ln w="381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✅</a:t>
            </a:r>
          </a:p>
          <a:p>
            <a:pPr algn="ctr">
              <a:defRPr sz="1300" b="1">
                <a:solidFill>
                  <a:srgbClr val="003566"/>
                </a:solidFill>
              </a:defRPr>
            </a:pPr>
            <a:r>
              <a:t>Phase 3</a:t>
            </a:r>
          </a:p>
          <a:p>
            <a:pPr algn="ctr">
              <a:defRPr sz="1100">
                <a:solidFill>
                  <a:srgbClr val="2C2C2C"/>
                </a:solidFill>
              </a:defRPr>
            </a:pPr>
            <a:r>
              <a:t>Advanced Features</a:t>
            </a:r>
          </a:p>
          <a:p>
            <a:pPr algn="ctr">
              <a:defRPr sz="1000" i="1">
                <a:solidFill>
                  <a:srgbClr val="006400"/>
                </a:solidFill>
              </a:defRPr>
            </a:pPr>
            <a:r>
              <a:t>Dec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554480"/>
            <a:ext cx="1920240" cy="1188720"/>
          </a:xfrm>
          <a:prstGeom prst="roundRect">
            <a:avLst/>
          </a:prstGeom>
          <a:solidFill>
            <a:srgbClr val="E6FFE6"/>
          </a:solidFill>
          <a:ln w="381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✅</a:t>
            </a:r>
          </a:p>
          <a:p>
            <a:pPr algn="ctr">
              <a:defRPr sz="1300" b="1">
                <a:solidFill>
                  <a:srgbClr val="003566"/>
                </a:solidFill>
              </a:defRPr>
            </a:pPr>
            <a:r>
              <a:t>Phase 4</a:t>
            </a:r>
          </a:p>
          <a:p>
            <a:pPr algn="ctr">
              <a:defRPr sz="1100">
                <a:solidFill>
                  <a:srgbClr val="2C2C2C"/>
                </a:solidFill>
              </a:defRPr>
            </a:pPr>
            <a:r>
              <a:t>Testing &amp; Validation</a:t>
            </a:r>
          </a:p>
          <a:p>
            <a:pPr algn="ctr">
              <a:defRPr sz="1000" i="1">
                <a:solidFill>
                  <a:srgbClr val="006400"/>
                </a:solidFill>
              </a:defRPr>
            </a:pPr>
            <a:r>
              <a:t>Dec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Code Base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13,000+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301752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Database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17 materials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01752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Properties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150+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301752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References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112 papers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Charts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6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365760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Test Coverage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100%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65760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Query Time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&lt;50ms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657600"/>
            <a:ext cx="192024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2C2C2C"/>
                </a:solidFill>
              </a:defRPr>
            </a:pPr>
            <a:r>
              <a:t>Reliability</a:t>
            </a:r>
          </a:p>
          <a:p>
            <a:pPr>
              <a:defRPr sz="1400" b="1">
                <a:solidFill>
                  <a:srgbClr val="003566"/>
                </a:solidFill>
              </a:defRPr>
            </a:pPr>
            <a:r>
              <a:t>Zero data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760720"/>
            <a:ext cx="6400800" cy="640080"/>
          </a:xfrm>
          <a:prstGeom prst="roundRect">
            <a:avLst/>
          </a:prstGeom>
          <a:solidFill>
            <a:srgbClr val="00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🎯 PRODUCTION READY: Complete documentation • GitHub repository • User manuals • Demo videos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Vision for Growth: From Prototype to National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2286000"/>
          </a:xfrm>
          <a:prstGeom prst="roundRect">
            <a:avLst/>
          </a:prstGeom>
          <a:solidFill>
            <a:srgbClr val="C8E6FF"/>
          </a:solidFill>
          <a:ln w="381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⏱️ 6 Months</a:t>
            </a:r>
          </a:p>
          <a:p/>
          <a:p>
            <a:pPr algn="ctr">
              <a:defRPr sz="1600" b="1">
                <a:solidFill>
                  <a:srgbClr val="003566"/>
                </a:solidFill>
              </a:defRPr>
            </a:pPr>
            <a:r>
              <a:t>Enhanced Features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• 100+ materials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ML integration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Cloud deployment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Advanced viz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651760" cy="2286000"/>
          </a:xfrm>
          <a:prstGeom prst="roundRect">
            <a:avLst/>
          </a:prstGeom>
          <a:solidFill>
            <a:srgbClr val="96D2FF"/>
          </a:solidFill>
          <a:ln w="381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⏱️ 12 Months</a:t>
            </a:r>
          </a:p>
          <a:p/>
          <a:p>
            <a:pPr algn="ctr">
              <a:defRPr sz="1600" b="1">
                <a:solidFill>
                  <a:srgbClr val="003566"/>
                </a:solidFill>
              </a:defRPr>
            </a:pPr>
            <a:r>
              <a:t>National Integration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• DRDO/ISRO collab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Academic integration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Mobile app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API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651760" cy="2286000"/>
          </a:xfrm>
          <a:prstGeom prst="roundRect">
            <a:avLst/>
          </a:prstGeom>
          <a:solidFill>
            <a:srgbClr val="64BEFF"/>
          </a:solidFill>
          <a:ln w="381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/>
          <a:lstStyle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⏱️ 24 Months</a:t>
            </a:r>
          </a:p>
          <a:p/>
          <a:p>
            <a:pPr algn="ctr">
              <a:defRPr sz="1600" b="1">
                <a:solidFill>
                  <a:srgbClr val="003566"/>
                </a:solidFill>
              </a:defRPr>
            </a:pPr>
            <a:r>
              <a:t>Commercialization</a:t>
            </a:r>
          </a:p>
          <a:p/>
          <a:p>
            <a:pPr>
              <a:defRPr sz="1100">
                <a:solidFill>
                  <a:srgbClr val="2C2C2C"/>
                </a:solidFill>
              </a:defRPr>
            </a:pPr>
            <a:r>
              <a:t>• SaaS model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₹50L/year revenue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International</a:t>
            </a:r>
          </a:p>
          <a:p>
            <a:pPr>
              <a:defRPr sz="1100">
                <a:solidFill>
                  <a:srgbClr val="2C2C2C"/>
                </a:solidFill>
              </a:defRPr>
            </a:pPr>
            <a:r>
              <a:t>• 1000+ institutions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114800"/>
            <a:ext cx="8046720" cy="2011680"/>
          </a:xfrm>
          <a:prstGeom prst="roundRect">
            <a:avLst/>
          </a:prstGeom>
          <a:solidFill>
            <a:srgbClr val="FFFAF0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1800" b="1">
                <a:solidFill>
                  <a:srgbClr val="FF6B35"/>
                </a:solidFill>
              </a:defRPr>
            </a:pPr>
            <a:r>
              <a:t>💰 FUNDING UTILIZATION (₹15 Lakhs)</a:t>
            </a:r>
          </a:p>
          <a:p>
            <a:pPr algn="ctr">
              <a:defRPr sz="1300">
                <a:solidFill>
                  <a:srgbClr val="2C2C2C"/>
                </a:solidFill>
              </a:defRPr>
            </a:pPr>
          </a:p>
          <a:p>
            <a:pPr algn="ctr">
              <a:defRPr sz="1300">
                <a:solidFill>
                  <a:srgbClr val="2C2C2C"/>
                </a:solidFill>
              </a:defRPr>
            </a:pPr>
            <a:r>
              <a:t>₹3L Server Infrastructure • ₹4L ML Development • ₹2L Additional Data</a:t>
            </a:r>
          </a:p>
          <a:p>
            <a:pPr algn="ctr">
              <a:defRPr sz="1300">
                <a:solidFill>
                  <a:srgbClr val="2C2C2C"/>
                </a:solidFill>
              </a:defRPr>
            </a:pPr>
            <a:r>
              <a:t>₹3L Team Expansion • ₹1L Testing • ₹1L Conferences • ₹1L Patent Filing</a:t>
            </a:r>
          </a:p>
          <a:p>
            <a:pPr algn="ctr">
              <a:defRPr sz="1300">
                <a:solidFill>
                  <a:srgbClr val="2C2C2C"/>
                </a:solidFill>
              </a:defRPr>
            </a:pPr>
          </a:p>
          <a:p>
            <a:pPr algn="ctr">
              <a:defRPr sz="1300">
                <a:solidFill>
                  <a:srgbClr val="2C2C2C"/>
                </a:solidFill>
              </a:defRPr>
            </a:pPr>
            <a:r>
              <a:t>ROI: Self-sustaining after 2 years • Revenue potential: ₹50 Lakhs/year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9144000" cy="914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Transforming Materials Research: Join Us in Building the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🇮🇳 Addresses Critical National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💡 3 Patent-Worthy Innovations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✅ Fully Functional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📈 Clear Monetization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566"/>
                </a:solidFill>
              </a:defRPr>
            </a:pPr>
            <a:r>
              <a:t>🏆 Capable Multidisciplinary 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645920"/>
            <a:ext cx="3840480" cy="3017520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35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/>
          <a:lstStyle/>
          <a:p>
            <a:pPr>
              <a:defRPr sz="1600" b="1">
                <a:solidFill>
                  <a:srgbClr val="FF6B35"/>
                </a:solidFill>
              </a:defRPr>
            </a:pPr>
            <a:r>
              <a:t>📊 SUCCESS METRICS</a:t>
            </a:r>
          </a:p>
          <a:p>
            <a:r>
              <a:t>(Next 12 Months)</a:t>
            </a:r>
          </a:p>
          <a:p/>
          <a:p>
            <a:pPr>
              <a:defRPr sz="1300">
                <a:solidFill>
                  <a:srgbClr val="2C2C2C"/>
                </a:solidFill>
              </a:defRPr>
            </a:pPr>
            <a:r>
              <a:t>✅ 100+ materials</a:t>
            </a:r>
          </a:p>
          <a:p>
            <a:pPr>
              <a:defRPr sz="1300">
                <a:solidFill>
                  <a:srgbClr val="2C2C2C"/>
                </a:solidFill>
              </a:defRPr>
            </a:pPr>
            <a:r>
              <a:t>✅ 500+ users (20 institutions)</a:t>
            </a:r>
          </a:p>
          <a:p>
            <a:pPr>
              <a:defRPr sz="1300">
                <a:solidFill>
                  <a:srgbClr val="2C2C2C"/>
                </a:solidFill>
              </a:defRPr>
            </a:pPr>
            <a:r>
              <a:t>✅ 2 SCI publications</a:t>
            </a:r>
          </a:p>
          <a:p>
            <a:pPr>
              <a:defRPr sz="1300">
                <a:solidFill>
                  <a:srgbClr val="2C2C2C"/>
                </a:solidFill>
              </a:defRPr>
            </a:pPr>
            <a:r>
              <a:t>✅ 1 patent filed</a:t>
            </a:r>
          </a:p>
          <a:p>
            <a:pPr>
              <a:defRPr sz="1300">
                <a:solidFill>
                  <a:srgbClr val="2C2C2C"/>
                </a:solidFill>
              </a:defRPr>
            </a:pPr>
            <a:r>
              <a:t>✅ ₹10L revenue</a:t>
            </a:r>
          </a:p>
          <a:p>
            <a:pPr>
              <a:defRPr sz="1300">
                <a:solidFill>
                  <a:srgbClr val="2C2C2C"/>
                </a:solidFill>
              </a:defRPr>
            </a:pPr>
            <a:r>
              <a:t>✅ DRDO collaboration MoU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46320"/>
            <a:ext cx="768096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🤝 We Need: ₹15L Funding • IIT-M Infrastructure • Faculty Mentorship • Industry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3566"/>
                </a:solidFill>
              </a:defRPr>
            </a:pPr>
            <a:r>
              <a:t>"A National Materials Knowledge Platform that will accelerate research, reduce costs, and position India as a leader in computational materials science."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400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6B35"/>
                </a:solidFill>
              </a:defRPr>
            </a:pPr>
            <a:r>
              <a:t>Thank You! 🙏 | Ready for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